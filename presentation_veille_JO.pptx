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65760"/>
            <a:ext cx="1268273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2860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4000" b="1" i="0">
                <a:solidFill>
                  <a:srgbClr val="000091"/>
                </a:solidFill>
                <a:latin typeface="Arial"/>
              </a:rPr>
              <a:t>La veille JO automatisée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61616"/>
                </a:solidFill>
                <a:latin typeface="Arial"/>
              </a:rPr>
              <a:t>Du Journal officiel publié au mail prêt à envoyer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666666"/>
                </a:solidFill>
                <a:latin typeface="Arial"/>
              </a:rPr>
              <a:t>CEPS — Comité économique des produits de santé  ·  22 juillet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48920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000091"/>
                </a:solidFill>
                <a:latin typeface="Arial"/>
              </a:rPr>
              <a:t>Pipeline 100 % déterministe : tout vient du texte publié — rien ne part sans relecture humaine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5047488"/>
            <a:ext cx="3047695" cy="18105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82771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56032"/>
            <a:ext cx="43708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000091"/>
                </a:solidFill>
                <a:latin typeface="Arial"/>
              </a:rPr>
              <a:t>CEPS</a:t>
            </a:r>
          </a:p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Veille du Journal officiel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01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1556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000091"/>
                </a:solidFill>
                <a:latin typeface="Arial"/>
              </a:rPr>
              <a:t>Du JO publié au mail prêt à envoyer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Veille JO, spécialités pharmaceutiques — 22/07/2026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52760" cy="64008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" y="1920240"/>
            <a:ext cx="365760" cy="36576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37943"/>
            <a:ext cx="71780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250" b="1" i="0">
                <a:solidFill>
                  <a:srgbClr val="161616"/>
                </a:solidFill>
                <a:latin typeface="Arial"/>
              </a:rPr>
              <a:t>Extraction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L'API officielle PISTE (Légifrance) livre le JO du jour — ou celui de la date écrite dans date.txt.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1947672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>
                <a:solidFill>
                  <a:srgbClr val="000091"/>
                </a:solidFill>
                <a:latin typeface="Arial"/>
              </a:rPr>
              <a:t>107 textes le 28/05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542032"/>
            <a:ext cx="10652760" cy="64008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7552" y="2679191"/>
            <a:ext cx="365760" cy="36576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96896"/>
            <a:ext cx="71780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250" b="1" i="0">
                <a:solidFill>
                  <a:srgbClr val="161616"/>
                </a:solidFill>
                <a:latin typeface="Arial"/>
              </a:rPr>
              <a:t>Filtrage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Seuls les titres à mots-clés pharmaceutiques sont retenus ; chaque texte écarté reste tracé au journal.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2706624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>
                <a:solidFill>
                  <a:srgbClr val="000091"/>
                </a:solidFill>
                <a:latin typeface="Arial"/>
              </a:rPr>
              <a:t>21 retenus, 86 écartés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300984"/>
            <a:ext cx="10652760" cy="64008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7552" y="3438144"/>
            <a:ext cx="365760" cy="36576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55848"/>
            <a:ext cx="71780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250" b="1" i="0">
                <a:solidFill>
                  <a:srgbClr val="161616"/>
                </a:solidFill>
                <a:latin typeface="Arial"/>
              </a:rPr>
              <a:t>Analyse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Type de texte, présentations (code CIP), laboratoires, prix (PFHT), taux et indications lus dans les textes.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3465576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>
                <a:solidFill>
                  <a:srgbClr val="000091"/>
                </a:solidFill>
                <a:latin typeface="Arial"/>
              </a:rPr>
              <a:t>lecture déterministe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59935"/>
            <a:ext cx="10652760" cy="64008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7552" y="4197096"/>
            <a:ext cx="365760" cy="36576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114799"/>
            <a:ext cx="71780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250" b="1" i="0">
                <a:solidFill>
                  <a:srgbClr val="161616"/>
                </a:solidFill>
                <a:latin typeface="Arial"/>
              </a:rPr>
              <a:t>Rapprochement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Une ligne par présentation (clé CIP) : Liste ← arrêtés, Prix ← avis, Taux ← décision UNCAM.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4224527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>
                <a:solidFill>
                  <a:srgbClr val="000091"/>
                </a:solidFill>
                <a:latin typeface="Arial"/>
              </a:rPr>
              <a:t>39 lignes, 8 produits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818888"/>
            <a:ext cx="10652760" cy="64008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7552" y="4956048"/>
            <a:ext cx="365760" cy="36576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873751"/>
            <a:ext cx="71780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250" b="1" i="0">
                <a:solidFill>
                  <a:srgbClr val="161616"/>
                </a:solidFill>
                <a:latin typeface="Arial"/>
              </a:rPr>
              <a:t>Livrables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Excel au gabarit + brouillon Outlook pré-rempli : destinataires, objet, tableaux, pièce jointe.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4983479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>
                <a:solidFill>
                  <a:srgbClr val="000091"/>
                </a:solidFill>
                <a:latin typeface="Arial"/>
              </a:rPr>
              <a:t>jamais d'envoi seul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577840"/>
            <a:ext cx="10652760" cy="64008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7552" y="5715000"/>
            <a:ext cx="365760" cy="36576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632703"/>
            <a:ext cx="71780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250" b="1" i="0">
                <a:solidFill>
                  <a:srgbClr val="161616"/>
                </a:solidFill>
                <a:latin typeface="Arial"/>
              </a:rPr>
              <a:t>Vous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Relecture, compléments des « (à vérifier) » via les liens fournis, clic sur Envoyer.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5742431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F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>
                <a:solidFill>
                  <a:srgbClr val="C9191E"/>
                </a:solidFill>
                <a:latin typeface="Arial"/>
              </a:rPr>
              <a:t>rien ne part sans vous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82771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56032"/>
            <a:ext cx="43708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000091"/>
                </a:solidFill>
                <a:latin typeface="Arial"/>
              </a:rPr>
              <a:t>CEPS</a:t>
            </a:r>
          </a:p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Veille du Journal officiel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01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1556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000091"/>
                </a:solidFill>
                <a:latin typeface="Arial"/>
              </a:rPr>
              <a:t>Ce que l'outil garde, ce qu'il écarte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Veille JO, spécialités pharmaceutiques — 22/07/2026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1">
                <a:solidFill>
                  <a:srgbClr val="666666"/>
                </a:solidFill>
                <a:latin typeface="Arial"/>
              </a:rPr>
              <a:t>Exemple réel : JO du 28 mai 2026, utilisé pour la recette.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057400"/>
            <a:ext cx="4480560" cy="868680"/>
          </a:xfrm>
          <a:prstGeom prst="roundRect">
            <a:avLst>
              <a:gd name="adj" fmla="val 10000"/>
            </a:avLst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107 textes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Arial"/>
              </a:rPr>
              <a:t>le JO complet du jour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291840"/>
            <a:ext cx="3383280" cy="868680"/>
          </a:xfrm>
          <a:prstGeom prst="roundRect">
            <a:avLst>
              <a:gd name="adj" fmla="val 10000"/>
            </a:avLst>
          </a:prstGeom>
          <a:solidFill>
            <a:srgbClr val="6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21 textes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Arial"/>
              </a:rPr>
              <a:t>spécialités pharmaceutiques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526280"/>
            <a:ext cx="2468880" cy="868680"/>
          </a:xfrm>
          <a:prstGeom prst="roundRect">
            <a:avLst>
              <a:gd name="adj" fmla="val 10000"/>
            </a:avLst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/>
          <a:lstStyle/>
          <a:p>
            <a:pPr algn="ctr"/>
            <a:r>
              <a:rPr sz="1900" b="1">
                <a:solidFill>
                  <a:srgbClr val="000091"/>
                </a:solidFill>
                <a:latin typeface="Arial"/>
              </a:rPr>
              <a:t>39 lignes</a:t>
            </a:r>
          </a:p>
          <a:p>
            <a:pPr algn="ctr"/>
            <a:r>
              <a:rPr sz="950">
                <a:solidFill>
                  <a:srgbClr val="000091"/>
                </a:solidFill>
                <a:latin typeface="Arial"/>
              </a:rPr>
              <a:t>8 produits, une ligne par présentation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9992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423367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356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Arial"/>
              </a:rPr>
              <a:t>Autant de lignes que le JO en publie : le « nom racine » relie les textes entre eux et regroupe les présentations d'un même produit.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19202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00091"/>
                </a:solidFill>
                <a:latin typeface="Arial"/>
              </a:rPr>
              <a:t>Les règles de prudence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395728"/>
            <a:ext cx="548640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1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150" b="1" i="0">
                <a:solidFill>
                  <a:srgbClr val="161616"/>
                </a:solidFill>
                <a:latin typeface="Arial"/>
              </a:rPr>
              <a:t>Titre sans mot-clé pharmaceutique</a:t>
            </a:r>
            <a:r>
              <a:rPr sz="1150" b="0" i="0">
                <a:solidFill>
                  <a:srgbClr val="161616"/>
                </a:solidFill>
                <a:latin typeface="Arial"/>
              </a:rPr>
              <a:t> : écarté, mais listé au journal — le tri reste auditable.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1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150" b="1" i="0">
                <a:solidFill>
                  <a:srgbClr val="161616"/>
                </a:solidFill>
                <a:latin typeface="Arial"/>
              </a:rPr>
              <a:t>Donnée introuvable dans le texte</a:t>
            </a:r>
            <a:r>
              <a:rPr sz="1150" b="0" i="0">
                <a:solidFill>
                  <a:srgbClr val="161616"/>
                </a:solidFill>
                <a:latin typeface="Arial"/>
              </a:rPr>
              <a:t> : « N/A » ou « à compléter manuellement », jamais une valeur devinée.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1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150" b="1" i="0">
                <a:solidFill>
                  <a:srgbClr val="161616"/>
                </a:solidFill>
                <a:latin typeface="Arial"/>
              </a:rPr>
              <a:t>Avis de prix sans orientation</a:t>
            </a:r>
            <a:r>
              <a:rPr sz="1150" b="0" i="0">
                <a:solidFill>
                  <a:srgbClr val="161616"/>
                </a:solidFill>
                <a:latin typeface="Arial"/>
              </a:rPr>
              <a:t> (ni hausse ni baisse dans le texte) : classé « Hausses de prix » avec la mention « à vérifier », signalé dans le récapitulatif du mail.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1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150" b="1" i="0">
                <a:solidFill>
                  <a:srgbClr val="161616"/>
                </a:solidFill>
                <a:latin typeface="Arial"/>
              </a:rPr>
              <a:t>Plusieurs présentations d'un même produit</a:t>
            </a:r>
            <a:r>
              <a:rPr sz="1150" b="0" i="0">
                <a:solidFill>
                  <a:srgbClr val="161616"/>
                </a:solidFill>
                <a:latin typeface="Arial"/>
              </a:rPr>
              <a:t> : une ligne chacune, avec son prix ; laboratoire, indication et liste fusionnés visuellement.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82771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56032"/>
            <a:ext cx="43708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000091"/>
                </a:solidFill>
                <a:latin typeface="Arial"/>
              </a:rPr>
              <a:t>CEPS</a:t>
            </a:r>
          </a:p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Veille du Journal officiel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01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1556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000091"/>
                </a:solidFill>
                <a:latin typeface="Arial"/>
              </a:rPr>
              <a:t>Les garde-fous en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Veille JO, spécialités pharmaceutiques — 22/07/2026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10512"/>
            <a:ext cx="5166360" cy="2148840"/>
          </a:xfrm>
          <a:prstGeom prst="roundRect">
            <a:avLst>
              <a:gd name="adj" fmla="val 6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82296" cy="21488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99339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000091"/>
                </a:solidFill>
                <a:latin typeface="Arial"/>
              </a:rPr>
              <a:t>Jamais d'invention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432304"/>
            <a:ext cx="4617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050" b="0" i="0">
                <a:solidFill>
                  <a:srgbClr val="161616"/>
                </a:solidFill>
                <a:latin typeface="Arial"/>
              </a:rPr>
              <a:t>Produits, prix, taux, listes : lus dans les tableaux du JO ; indications recopiées, pas réécrites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050" b="0" i="0">
                <a:solidFill>
                  <a:srgbClr val="161616"/>
                </a:solidFill>
                <a:latin typeface="Arial"/>
              </a:rPr>
              <a:t>Donnée absente = « N/A » ou « à compléter manuellement »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050" b="0" i="0">
                <a:solidFill>
                  <a:srgbClr val="161616"/>
                </a:solidFill>
                <a:latin typeface="Arial"/>
              </a:rPr>
              <a:t>Rien n'est déduit ni inventé : le même JO produit toujours le même tableau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10512"/>
            <a:ext cx="5166360" cy="2148840"/>
          </a:xfrm>
          <a:prstGeom prst="roundRect">
            <a:avLst>
              <a:gd name="adj" fmla="val 6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10512"/>
            <a:ext cx="82296" cy="21488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99339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000091"/>
                </a:solidFill>
                <a:latin typeface="Arial"/>
              </a:rPr>
              <a:t>Tout est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432304"/>
            <a:ext cx="4617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050" b="0" i="0">
                <a:solidFill>
                  <a:srgbClr val="161616"/>
                </a:solidFill>
                <a:latin typeface="Arial"/>
              </a:rPr>
              <a:t>Suffixe « (à vérifier) » sur toute donnée douteuse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050" b="0" i="0">
                <a:solidFill>
                  <a:srgbClr val="161616"/>
                </a:solidFill>
                <a:latin typeface="Arial"/>
              </a:rPr>
              <a:t>Récapitulatif des anomalies dans le mail lui-même, avec les liens Légifrance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050" b="0" i="0">
                <a:solidFill>
                  <a:srgbClr val="161616"/>
                </a:solidFill>
                <a:latin typeface="Arial"/>
              </a:rPr>
              <a:t>Un journal par exécution (dossier logs) : retenus, écartés, rapprochements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142231"/>
            <a:ext cx="5166360" cy="2148840"/>
          </a:xfrm>
          <a:prstGeom prst="roundRect">
            <a:avLst>
              <a:gd name="adj" fmla="val 6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142231"/>
            <a:ext cx="82296" cy="21488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32511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000091"/>
                </a:solidFill>
                <a:latin typeface="Arial"/>
              </a:rPr>
              <a:t>La veille ne s'arrête jamais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764023"/>
            <a:ext cx="4617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050" b="0" i="0">
                <a:solidFill>
                  <a:srgbClr val="161616"/>
                </a:solidFill>
                <a:latin typeface="Arial"/>
              </a:rPr>
              <a:t>JO pas encore publié → alerte explicite, la tâche planifiée réessaie (3 fois, toutes les 30 min)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050" b="0" i="0">
                <a:solidFill>
                  <a:srgbClr val="161616"/>
                </a:solidFill>
                <a:latin typeface="Arial"/>
              </a:rPr>
              <a:t>Outlook absent → fichier HTML à copier-coller (écrit dans tous les cas)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050" b="0" i="0">
                <a:solidFill>
                  <a:srgbClr val="161616"/>
                </a:solidFill>
                <a:latin typeface="Arial"/>
              </a:rPr>
              <a:t>Jour sans texte pharmaceutique → mail « RAS » : pas de mail = panne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142231"/>
            <a:ext cx="5166360" cy="2148840"/>
          </a:xfrm>
          <a:prstGeom prst="roundRect">
            <a:avLst>
              <a:gd name="adj" fmla="val 6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4142231"/>
            <a:ext cx="82296" cy="21488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432511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000091"/>
                </a:solidFill>
                <a:latin typeface="Arial"/>
              </a:rPr>
              <a:t>Envoi et accès maîtrisés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4764023"/>
            <a:ext cx="4617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050" b="0" i="0">
                <a:solidFill>
                  <a:srgbClr val="161616"/>
                </a:solidFill>
                <a:latin typeface="Arial"/>
              </a:rPr>
              <a:t>Brouillon relu avant envoi ; envoi automatique désactivé par défaut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050" b="0" i="0">
                <a:solidFill>
                  <a:srgbClr val="161616"/>
                </a:solidFill>
                <a:latin typeface="Arial"/>
              </a:rPr>
              <a:t>Clé d'accès PISTE dans un fichier local (.env), jamais dans le code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00" b="1" i="0">
                <a:solidFill>
                  <a:srgbClr val="000091"/>
                </a:solidFill>
                <a:latin typeface="Arial"/>
              </a:rPr>
              <a:t>▪  </a:t>
            </a:r>
            <a:r>
              <a:rPr sz="1050" b="0" i="0">
                <a:solidFill>
                  <a:srgbClr val="161616"/>
                </a:solidFill>
                <a:latin typeface="Arial"/>
              </a:rPr>
              <a:t>API officielle Légifrance (PISTE), pas d'aspiration du site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82771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56032"/>
            <a:ext cx="43708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1" i="0">
                <a:solidFill>
                  <a:srgbClr val="000091"/>
                </a:solidFill>
                <a:latin typeface="Arial"/>
              </a:rPr>
              <a:t>CEPS</a:t>
            </a:r>
          </a:p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Veille du Journal officiel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01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1556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000091"/>
                </a:solidFill>
                <a:latin typeface="Arial"/>
              </a:rPr>
              <a:t>Au quotidien, et ce qui reste à trancher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Veille JO, spécialités pharmaceutiques — 22/07/2026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00091"/>
                </a:solidFill>
                <a:latin typeface="Arial"/>
              </a:rPr>
              <a:t>Le matin : 3 gestes, 2 minutes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713232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2414016"/>
            <a:ext cx="365760" cy="36576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2313432"/>
            <a:ext cx="4297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200" b="1" i="0">
                <a:solidFill>
                  <a:srgbClr val="161616"/>
                </a:solidFill>
                <a:latin typeface="Arial"/>
              </a:rPr>
              <a:t>Double-clic sur lancer_veille.bat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66666"/>
                </a:solidFill>
                <a:latin typeface="Arial"/>
              </a:rPr>
              <a:t>le raccourci « Veille JO » du bureau ; la fenêtre travaille 1 à 2 minutes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81528"/>
            <a:ext cx="5120640" cy="713232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0120" y="3255264"/>
            <a:ext cx="365760" cy="36576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154680"/>
            <a:ext cx="4297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200" b="1" i="0">
                <a:solidFill>
                  <a:srgbClr val="161616"/>
                </a:solidFill>
                <a:latin typeface="Arial"/>
              </a:rPr>
              <a:t>Relire le brouillon Outlook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66666"/>
                </a:solidFill>
                <a:latin typeface="Arial"/>
              </a:rPr>
              <a:t>compléter les « (à vérifier) » grâce aux liens Légifrance de chaque ligne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22776"/>
            <a:ext cx="5120640" cy="713232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" y="4096512"/>
            <a:ext cx="365760" cy="36576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3995928"/>
            <a:ext cx="4297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200" b="1" i="0">
                <a:solidFill>
                  <a:srgbClr val="161616"/>
                </a:solidFill>
                <a:latin typeface="Arial"/>
              </a:rPr>
              <a:t>Cliquer sur Envoyer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66666"/>
                </a:solidFill>
                <a:latin typeface="Arial"/>
              </a:rPr>
              <a:t>même les jours « RAS » : le mail prouve que la veille a tourné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37176"/>
            <a:ext cx="5120640" cy="914400"/>
          </a:xfrm>
          <a:prstGeom prst="roundRect">
            <a:avLst>
              <a:gd name="adj" fmla="val 10000"/>
            </a:avLst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96519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91"/>
                </a:solidFill>
                <a:latin typeface="Arial"/>
              </a:rPr>
              <a:t>Rejouer un jour passé : </a:t>
            </a:r>
            <a:r>
              <a:rPr sz="1050" b="0" i="0">
                <a:solidFill>
                  <a:srgbClr val="161616"/>
                </a:solidFill>
                <a:latin typeface="Arial"/>
              </a:rPr>
              <a:t>écrire la date au format JJ-MM-AAAA dans le fichier date.txt, puis relancer. Le fichier se vide tout seul après chaque lancement.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00091"/>
                </a:solidFill>
                <a:latin typeface="Arial"/>
              </a:rPr>
              <a:t>Mise en service : à valider ensemble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2240280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73952" y="2386584"/>
            <a:ext cx="365760" cy="365760"/>
          </a:xfrm>
          <a:prstGeom prst="ellipse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00091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304288"/>
            <a:ext cx="42976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61616"/>
                </a:solidFill>
                <a:latin typeface="Arial"/>
              </a:rPr>
              <a:t>Le format du 22/07 : une ligne par présentation, prix affiché, fusions par produit — sur les fichiers générés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026664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73952" y="3172968"/>
            <a:ext cx="365760" cy="365760"/>
          </a:xfrm>
          <a:prstGeom prst="ellipse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00091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3090672"/>
            <a:ext cx="42976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61616"/>
                </a:solidFill>
                <a:latin typeface="Arial"/>
              </a:rPr>
              <a:t>La convention « Hausses (à vérifier) » pour les avis de prix non orientés (ou une section « à orienter » dédiée)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3813048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73952" y="3959352"/>
            <a:ext cx="365760" cy="365760"/>
          </a:xfrm>
          <a:prstGeom prst="ellipse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00091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3877056"/>
            <a:ext cx="42976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61616"/>
                </a:solidFill>
                <a:latin typeface="Arial"/>
              </a:rPr>
              <a:t>Le premier essai sur le poste Windows ministériel : brouillon Outlook, tâche planifiée de 7 h, police Marianne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4599432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4745736"/>
            <a:ext cx="365760" cy="365760"/>
          </a:xfrm>
          <a:prstGeom prst="ellipse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00091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4663440"/>
            <a:ext cx="42976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61616"/>
                </a:solidFill>
                <a:latin typeface="Arial"/>
              </a:rPr>
              <a:t>Le droit d'envoi vers la liste de diffusion SG_CEPS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5385816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3952" y="5532120"/>
            <a:ext cx="365760" cy="365760"/>
          </a:xfrm>
          <a:prstGeom prst="ellipse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00091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5449824"/>
            <a:ext cx="42976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161616"/>
                </a:solidFill>
                <a:latin typeface="Arial"/>
              </a:rPr>
              <a:t>La sauvegarde du code : GitLab interne ou partage réseau d'équipe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Veille JO automatisée — CEPS</dc:title>
  <dc:subject/>
  <dc:creator>Veille JO, spécialités pharmaceutiques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