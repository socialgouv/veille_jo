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65760"/>
            <a:ext cx="1268273" cy="86868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2286000"/>
            <a:ext cx="96012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4000" b="1" i="0">
                <a:solidFill>
                  <a:srgbClr val="000091"/>
                </a:solidFill>
                <a:latin typeface="Arial"/>
              </a:rPr>
              <a:t>La veille JO automatisée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2000" b="0" i="0">
                <a:solidFill>
                  <a:srgbClr val="161616"/>
                </a:solidFill>
                <a:latin typeface="Arial"/>
              </a:rPr>
              <a:t>Du Journal officiel publié au mail prêt à envoyer</a:t>
            </a:r>
          </a:p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666666"/>
                </a:solidFill>
                <a:latin typeface="Arial"/>
              </a:rPr>
              <a:t>CEPS — Comité économique des produits de santé  ·  29 juillet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4892040"/>
            <a:ext cx="6949440" cy="457200"/>
          </a:xfrm>
          <a:prstGeom prst="roundRect">
            <a:avLst>
              <a:gd name="adj" fmla="val 50000"/>
            </a:avLst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50" b="1">
                <a:solidFill>
                  <a:srgbClr val="000091"/>
                </a:solidFill>
                <a:latin typeface="Arial"/>
              </a:rPr>
              <a:t>Pipeline 100 % déterministe : tout vient du texte publié — rien ne part sans relecture humaine</a:t>
            </a:r>
          </a:p>
        </p:txBody>
      </p:sp>
      <p:pic>
        <p:nvPicPr>
          <p:cNvPr id="5" name="Picture 4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5047488"/>
            <a:ext cx="3047695" cy="1810512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82771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0" y="256032"/>
            <a:ext cx="4370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000091"/>
                </a:solidFill>
                <a:latin typeface="Arial"/>
              </a:rPr>
              <a:t>CEPS</a:t>
            </a:r>
          </a:p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Veille du Journal officiel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20116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00091"/>
                </a:solidFill>
                <a:latin typeface="Arial"/>
              </a:rPr>
              <a:t>Du JO publié au mail prêt à envoyer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Veille JO, spécialités pharmaceutiques — 29/07/2026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783080"/>
            <a:ext cx="10652760" cy="640080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7552" y="1920240"/>
            <a:ext cx="365760" cy="36576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37943"/>
            <a:ext cx="7178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Extraction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L'API officielle PISTE (Légifrance) livre le JO du jour — ou celui de la date écrite dans date.txt.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15400" y="1947672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000091"/>
                </a:solidFill>
                <a:latin typeface="Arial"/>
              </a:rPr>
              <a:t>182 textes le 23/07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542032"/>
            <a:ext cx="10652760" cy="640080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7552" y="2679191"/>
            <a:ext cx="365760" cy="36576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596896"/>
            <a:ext cx="7178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Filtrage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Seuls les titres à mots-clés pharmaceutiques sont retenus ; chaque texte écarté reste tracé au journal.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15400" y="2706624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000091"/>
                </a:solidFill>
                <a:latin typeface="Arial"/>
              </a:rPr>
              <a:t>40 retenus, 142 écartés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300984"/>
            <a:ext cx="10652760" cy="640080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87552" y="3438144"/>
            <a:ext cx="365760" cy="36576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355848"/>
            <a:ext cx="7178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Analyse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Type de texte, listes visées, produits et leurs codes (CIP/UCD), laboratoires, taux et indications lus dans les textes.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3465576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000091"/>
                </a:solidFill>
                <a:latin typeface="Arial"/>
              </a:rPr>
              <a:t>lecture déterministe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59935"/>
            <a:ext cx="10652760" cy="640080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87552" y="4197096"/>
            <a:ext cx="365760" cy="36576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114799"/>
            <a:ext cx="7178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Rapprochement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Une ligne par médicament et par laboratoire : Liste ← arrêtés, Prix ← avis, Taux ← décision UNCAM.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15400" y="4224527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000091"/>
                </a:solidFill>
                <a:latin typeface="Arial"/>
              </a:rPr>
              <a:t>22 lignes, 0 anomalie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818888"/>
            <a:ext cx="10652760" cy="640080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7552" y="4956048"/>
            <a:ext cx="365760" cy="36576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7178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Livrables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Excel au gabarit + brouillon Outlook pré-rempli : destinataires, objet, tableaux, pièce jointe.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915400" y="4983479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000091"/>
                </a:solidFill>
                <a:latin typeface="Arial"/>
              </a:rPr>
              <a:t>jamais d'envoi seul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77240" y="5577840"/>
            <a:ext cx="10652760" cy="640080"/>
          </a:xfrm>
          <a:prstGeom prst="roundRect">
            <a:avLst>
              <a:gd name="adj" fmla="val 12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87552" y="5715000"/>
            <a:ext cx="365760" cy="36576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632703"/>
            <a:ext cx="71780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50" b="1" i="0">
                <a:solidFill>
                  <a:srgbClr val="161616"/>
                </a:solidFill>
                <a:latin typeface="Arial"/>
              </a:rPr>
              <a:t>Vous</a:t>
            </a:r>
          </a:p>
          <a:p>
            <a:pPr algn="l">
              <a:lnSpc>
                <a:spcPct val="108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Relecture, compléments des « (à vérifier) » via les liens fournis, clic sur Envoyer.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400" y="5742431"/>
            <a:ext cx="2331720" cy="310896"/>
          </a:xfrm>
          <a:prstGeom prst="roundRect">
            <a:avLst>
              <a:gd name="adj" fmla="val 50000"/>
            </a:avLst>
          </a:prstGeom>
          <a:solidFill>
            <a:srgbClr val="FFE9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950" b="1">
                <a:solidFill>
                  <a:srgbClr val="C9191E"/>
                </a:solidFill>
                <a:latin typeface="Arial"/>
              </a:rPr>
              <a:t>rien ne part sans vous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82771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0" y="256032"/>
            <a:ext cx="4370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000091"/>
                </a:solidFill>
                <a:latin typeface="Arial"/>
              </a:rPr>
              <a:t>CEPS</a:t>
            </a:r>
          </a:p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Veille du Journal officiel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20116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00091"/>
                </a:solidFill>
                <a:latin typeface="Arial"/>
              </a:rPr>
              <a:t>Ce que l'outil garde, ce qu'il écarte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Veille JO, spécialités pharmaceutiques — 29/07/2026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27632"/>
            <a:ext cx="10607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100" b="0" i="1">
                <a:solidFill>
                  <a:srgbClr val="666666"/>
                </a:solidFill>
                <a:latin typeface="Arial"/>
              </a:rPr>
              <a:t>Exemple réel : JO du 23 juillet 2026, la newsletter de référence du CEPS.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59" y="2057400"/>
            <a:ext cx="4480560" cy="868680"/>
          </a:xfrm>
          <a:prstGeom prst="roundRect">
            <a:avLst>
              <a:gd name="adj" fmla="val 10000"/>
            </a:avLst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182 textes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Arial"/>
              </a:rPr>
              <a:t>le JO complet du jour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371600" y="3291840"/>
            <a:ext cx="3383280" cy="868680"/>
          </a:xfrm>
          <a:prstGeom prst="roundRect">
            <a:avLst>
              <a:gd name="adj" fmla="val 10000"/>
            </a:avLst>
          </a:prstGeom>
          <a:solidFill>
            <a:srgbClr val="6A6A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900" b="1">
                <a:solidFill>
                  <a:srgbClr val="FFFFFF"/>
                </a:solidFill>
                <a:latin typeface="Arial"/>
              </a:rPr>
              <a:t>40 textes</a:t>
            </a:r>
          </a:p>
          <a:p>
            <a:pPr algn="ctr"/>
            <a:r>
              <a:rPr sz="950">
                <a:solidFill>
                  <a:srgbClr val="FFFFFF"/>
                </a:solidFill>
                <a:latin typeface="Arial"/>
              </a:rPr>
              <a:t>spécialités pharmaceutiques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4526280"/>
            <a:ext cx="2468880" cy="868680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25400" bIns="25400"/>
          <a:lstStyle/>
          <a:p>
            <a:pPr algn="ctr"/>
            <a:r>
              <a:rPr sz="1900" b="1">
                <a:solidFill>
                  <a:srgbClr val="000091"/>
                </a:solidFill>
                <a:latin typeface="Arial"/>
              </a:rPr>
              <a:t>22 lignes</a:t>
            </a:r>
          </a:p>
          <a:p>
            <a:pPr algn="ctr"/>
            <a:r>
              <a:rPr sz="950">
                <a:solidFill>
                  <a:srgbClr val="000091"/>
                </a:solidFill>
                <a:latin typeface="Arial"/>
              </a:rPr>
              <a:t>11 inscriptions, 10 libellés, 1 extension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80360" y="299923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4233672"/>
            <a:ext cx="36576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</a:pPr>
            <a:r>
              <a:rPr sz="1100" b="0" i="0">
                <a:solidFill>
                  <a:srgbClr val="666666"/>
                </a:solidFill>
                <a:latin typeface="Arial"/>
              </a:rPr>
              <a:t>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623560"/>
            <a:ext cx="45720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Une ligne par médicament et par laboratoire : le « nom racine » et les codes CIP/UCD relient les textes du jour et regroupent les dosages d'un même produit.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92024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0091"/>
                </a:solidFill>
                <a:latin typeface="Arial"/>
              </a:rPr>
              <a:t>Les règles de prudence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395728"/>
            <a:ext cx="5486400" cy="3931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1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150" b="1" i="0">
                <a:solidFill>
                  <a:srgbClr val="161616"/>
                </a:solidFill>
                <a:latin typeface="Arial"/>
              </a:rPr>
              <a:t>Titre sans mot-clé pharmaceutique</a:t>
            </a:r>
            <a:r>
              <a:rPr sz="1150" b="0" i="0">
                <a:solidFill>
                  <a:srgbClr val="161616"/>
                </a:solidFill>
                <a:latin typeface="Arial"/>
              </a:rPr>
              <a:t> : écarté, mais listé au journal — le tri reste auditable.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1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150" b="1" i="0">
                <a:solidFill>
                  <a:srgbClr val="161616"/>
                </a:solidFill>
                <a:latin typeface="Arial"/>
              </a:rPr>
              <a:t>Donnée introuvable dans le texte</a:t>
            </a:r>
            <a:r>
              <a:rPr sz="1150" b="0" i="0">
                <a:solidFill>
                  <a:srgbClr val="161616"/>
                </a:solidFill>
                <a:latin typeface="Arial"/>
              </a:rPr>
              <a:t> : « N/A » ou « à compléter manuellement », jamais une valeur devinée.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1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150" b="1" i="0">
                <a:solidFill>
                  <a:srgbClr val="161616"/>
                </a:solidFill>
                <a:latin typeface="Arial"/>
              </a:rPr>
              <a:t>Avis de prix sans orientation</a:t>
            </a:r>
            <a:r>
              <a:rPr sz="1150" b="0" i="0">
                <a:solidFill>
                  <a:srgbClr val="161616"/>
                </a:solidFill>
                <a:latin typeface="Arial"/>
              </a:rPr>
              <a:t> (ni hausse ni baisse dans le texte) : orienté par comparaison au dernier prix connu ; à défaut « Hausses de prix (à vérifier) », signalé dans le récapitulatif du mail.</a:t>
            </a:r>
          </a:p>
          <a:p>
            <a:pPr algn="l">
              <a:lnSpc>
                <a:spcPct val="112000"/>
              </a:lnSpc>
              <a:spcAft>
                <a:spcPts val="1100"/>
              </a:spcAft>
            </a:pPr>
            <a:r>
              <a:rPr sz="11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150" b="1" i="0">
                <a:solidFill>
                  <a:srgbClr val="161616"/>
                </a:solidFill>
                <a:latin typeface="Arial"/>
              </a:rPr>
              <a:t>Plusieurs dosages d'un même médicament</a:t>
            </a:r>
            <a:r>
              <a:rPr sz="1150" b="0" i="0">
                <a:solidFill>
                  <a:srgbClr val="161616"/>
                </a:solidFill>
                <a:latin typeface="Arial"/>
              </a:rPr>
              <a:t> : une seule ligne, prix et taux en liens vers les textes ; un générique vendu par plusieurs laboratoires garde une ligne par laboratoire.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82771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0" y="256032"/>
            <a:ext cx="4370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000091"/>
                </a:solidFill>
                <a:latin typeface="Arial"/>
              </a:rPr>
              <a:t>CEPS</a:t>
            </a:r>
          </a:p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Veille du Journal officiel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20116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00091"/>
                </a:solidFill>
                <a:latin typeface="Arial"/>
              </a:rPr>
              <a:t>Les garde-fous en place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Veille JO, spécialités pharmaceutiques — 29/07/2026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1810512"/>
            <a:ext cx="5166360" cy="214884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1810512"/>
            <a:ext cx="82296" cy="21488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9848" y="19933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000091"/>
                </a:solidFill>
                <a:latin typeface="Arial"/>
              </a:rPr>
              <a:t>Jamais d'invention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9848" y="2432304"/>
            <a:ext cx="4617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050" b="0" i="0">
                <a:solidFill>
                  <a:srgbClr val="161616"/>
                </a:solidFill>
                <a:latin typeface="Arial"/>
              </a:rPr>
              <a:t>Produits, laboratoires, listes, taux : lus dans les tableaux du JO ; indications recopiées, pas réécrites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050" b="0" i="0">
                <a:solidFill>
                  <a:srgbClr val="161616"/>
                </a:solidFill>
                <a:latin typeface="Arial"/>
              </a:rPr>
              <a:t>Donnée absente = « N/A » ou « à compléter manuellement »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050" b="0" i="0">
                <a:solidFill>
                  <a:srgbClr val="161616"/>
                </a:solidFill>
                <a:latin typeface="Arial"/>
              </a:rPr>
              <a:t>Rien n'est déduit ni inventé : le même JO produit toujours le même tableau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810512"/>
            <a:ext cx="5166360" cy="214884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1810512"/>
            <a:ext cx="82296" cy="21488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99339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000091"/>
                </a:solidFill>
                <a:latin typeface="Arial"/>
              </a:rPr>
              <a:t>Tout est visible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432304"/>
            <a:ext cx="4617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050" b="0" i="0">
                <a:solidFill>
                  <a:srgbClr val="161616"/>
                </a:solidFill>
                <a:latin typeface="Arial"/>
              </a:rPr>
              <a:t>Suffixe « (à vérifier) » sur toute donnée douteuse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050" b="0" i="0">
                <a:solidFill>
                  <a:srgbClr val="161616"/>
                </a:solidFill>
                <a:latin typeface="Arial"/>
              </a:rPr>
              <a:t>Récapitulatif des anomalies dans le mail lui-même, avec les liens Légifrance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050" b="0" i="0">
                <a:solidFill>
                  <a:srgbClr val="161616"/>
                </a:solidFill>
                <a:latin typeface="Arial"/>
              </a:rPr>
              <a:t>Un journal par exécution (dossier logs) : retenus, écartés, rapprochements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4142231"/>
            <a:ext cx="5166360" cy="214884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77240" y="4142231"/>
            <a:ext cx="82296" cy="21488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9848" y="432511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000091"/>
                </a:solidFill>
                <a:latin typeface="Arial"/>
              </a:rPr>
              <a:t>La veille ne s'arrête jamais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" y="4764023"/>
            <a:ext cx="4617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050" b="0" i="0">
                <a:solidFill>
                  <a:srgbClr val="161616"/>
                </a:solidFill>
                <a:latin typeface="Arial"/>
              </a:rPr>
              <a:t>JO pas encore publié → alerte explicite, la tâche planifiée réessaie (3 fois, toutes les 30 min)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050" b="0" i="0">
                <a:solidFill>
                  <a:srgbClr val="161616"/>
                </a:solidFill>
                <a:latin typeface="Arial"/>
              </a:rPr>
              <a:t>Outlook absent → fichier HTML à copier-coller (écrit dans tous les cas)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050" b="0" i="0">
                <a:solidFill>
                  <a:srgbClr val="161616"/>
                </a:solidFill>
                <a:latin typeface="Arial"/>
              </a:rPr>
              <a:t>Jour sans texte pharmaceutique → mail « RAS » : pas de mail = panne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4142231"/>
            <a:ext cx="5166360" cy="2148840"/>
          </a:xfrm>
          <a:prstGeom prst="roundRect">
            <a:avLst>
              <a:gd name="adj" fmla="val 6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4142231"/>
            <a:ext cx="82296" cy="2148840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4325112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450" b="1" i="0">
                <a:solidFill>
                  <a:srgbClr val="000091"/>
                </a:solidFill>
                <a:latin typeface="Arial"/>
              </a:rPr>
              <a:t>Envoi et accès maîtrisés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56248" y="4764023"/>
            <a:ext cx="4617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050" b="0" i="0">
                <a:solidFill>
                  <a:srgbClr val="161616"/>
                </a:solidFill>
                <a:latin typeface="Arial"/>
              </a:rPr>
              <a:t>Brouillon relu avant envoi ; envoi automatique désactivé par défaut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050" b="0" i="0">
                <a:solidFill>
                  <a:srgbClr val="161616"/>
                </a:solidFill>
                <a:latin typeface="Arial"/>
              </a:rPr>
              <a:t>Clé d'accès PISTE dans un fichier local (.env), jamais dans le code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000" b="1" i="0">
                <a:solidFill>
                  <a:srgbClr val="000091"/>
                </a:solidFill>
                <a:latin typeface="Arial"/>
              </a:rPr>
              <a:t>▪  </a:t>
            </a:r>
            <a:r>
              <a:rPr sz="1050" b="0" i="0">
                <a:solidFill>
                  <a:srgbClr val="161616"/>
                </a:solidFill>
                <a:latin typeface="Arial"/>
              </a:rPr>
              <a:t>Deux flux publics et officiels : API Légifrance (PISTE) et base publique des médicaments — pas d'aspiration de site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4592"/>
            <a:ext cx="827715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0" y="256032"/>
            <a:ext cx="4370832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000091"/>
                </a:solidFill>
                <a:latin typeface="Arial"/>
              </a:rPr>
              <a:t>CEPS</a:t>
            </a:r>
          </a:p>
          <a:p>
            <a:pPr algn="r">
              <a:lnSpc>
                <a:spcPct val="108000"/>
              </a:lnSpc>
            </a:pPr>
            <a:r>
              <a:rPr sz="1000" b="0" i="0">
                <a:solidFill>
                  <a:srgbClr val="666666"/>
                </a:solidFill>
                <a:latin typeface="Arial"/>
              </a:rPr>
              <a:t>Veille du Journal officiel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20116"/>
          </a:xfrm>
          <a:prstGeom prst="rect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115568"/>
            <a:ext cx="106070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000091"/>
                </a:solidFill>
                <a:latin typeface="Arial"/>
              </a:rPr>
              <a:t>Au quotidien, et ce qui reste à trancher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Veille JO, spécialités pharmaceutiques — 29/07/2026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81360" y="6510528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</a:pPr>
            <a:r>
              <a:rPr sz="900" b="0" i="0">
                <a:solidFill>
                  <a:srgbClr val="666666"/>
                </a:solidFill>
                <a:latin typeface="Arial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0091"/>
                </a:solidFill>
                <a:latin typeface="Arial"/>
              </a:rPr>
              <a:t>Le matin : 3 gestes, 2 minutes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" y="2240280"/>
            <a:ext cx="5120640" cy="713232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60120" y="2414016"/>
            <a:ext cx="365760" cy="36576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2313432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1" i="0">
                <a:solidFill>
                  <a:srgbClr val="161616"/>
                </a:solidFill>
                <a:latin typeface="Arial"/>
              </a:rPr>
              <a:t>Double-clic sur lancer_veille.bat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le raccourci « Veille JO » du bureau ; la fenêtre travaille 1 à 2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3081528"/>
            <a:ext cx="5120640" cy="713232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60120" y="3255264"/>
            <a:ext cx="365760" cy="36576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3154680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1" i="0">
                <a:solidFill>
                  <a:srgbClr val="161616"/>
                </a:solidFill>
                <a:latin typeface="Arial"/>
              </a:rPr>
              <a:t>Relire le brouillon Outlook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compléter les « (à vérifier) » grâce aux liens Légifrance de chaque ligne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922776"/>
            <a:ext cx="5120640" cy="713232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60120" y="4096512"/>
            <a:ext cx="365760" cy="365760"/>
          </a:xfrm>
          <a:prstGeom prst="ellipse">
            <a:avLst/>
          </a:prstGeom>
          <a:solidFill>
            <a:srgbClr val="00009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995928"/>
            <a:ext cx="429768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100"/>
              </a:spcAft>
            </a:pPr>
            <a:r>
              <a:rPr sz="1200" b="1" i="0">
                <a:solidFill>
                  <a:srgbClr val="161616"/>
                </a:solidFill>
                <a:latin typeface="Arial"/>
              </a:rPr>
              <a:t>Cliquer sur Envoyer</a:t>
            </a:r>
          </a:p>
          <a:p>
            <a:pPr algn="l">
              <a:lnSpc>
                <a:spcPct val="108000"/>
              </a:lnSpc>
            </a:pPr>
            <a:r>
              <a:rPr sz="950" b="0" i="0">
                <a:solidFill>
                  <a:srgbClr val="666666"/>
                </a:solidFill>
                <a:latin typeface="Arial"/>
              </a:rPr>
              <a:t>même les jours « RAS » : le mail prouve que la veille a tourné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837176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4965192"/>
            <a:ext cx="4663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 i="0">
                <a:solidFill>
                  <a:srgbClr val="000091"/>
                </a:solidFill>
                <a:latin typeface="Arial"/>
              </a:rPr>
              <a:t>Rejouer un jour passé : </a:t>
            </a:r>
            <a:r>
              <a:rPr sz="1050" b="0" i="0">
                <a:solidFill>
                  <a:srgbClr val="161616"/>
                </a:solidFill>
                <a:latin typeface="Arial"/>
              </a:rPr>
              <a:t>écrire la date au format JJ-MM-AAAA dans le fichier date.txt, puis relancer. Le fichier se vide tout seul après chaque lancement.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78308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1500" b="1" i="0">
                <a:solidFill>
                  <a:srgbClr val="000091"/>
                </a:solidFill>
                <a:latin typeface="Arial"/>
              </a:rPr>
              <a:t>Mise en service : à valider ensemble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240280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73952" y="2386584"/>
            <a:ext cx="365760" cy="365760"/>
          </a:xfrm>
          <a:prstGeom prst="ellipse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00091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304288"/>
            <a:ext cx="42976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61616"/>
                </a:solidFill>
                <a:latin typeface="Arial"/>
              </a:rPr>
              <a:t>L'orientation automatique des avis de prix « neutres » par comparaison au dernier prix connu (base publique des médicaments)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60" y="3026664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73952" y="3172968"/>
            <a:ext cx="365760" cy="365760"/>
          </a:xfrm>
          <a:prstGeom prst="ellipse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00091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95160" y="3090672"/>
            <a:ext cx="42976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61616"/>
                </a:solidFill>
                <a:latin typeface="Arial"/>
              </a:rPr>
              <a:t>Le laboratoire à retenir sur un transfert d'exploitation, et les colonnes du tableau Radiations (aucun exemple dans vos mails)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309360" y="3813048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473952" y="3959352"/>
            <a:ext cx="365760" cy="365760"/>
          </a:xfrm>
          <a:prstGeom prst="ellipse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00091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3877056"/>
            <a:ext cx="42976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61616"/>
                </a:solidFill>
                <a:latin typeface="Arial"/>
              </a:rPr>
              <a:t>Le premier essai sur le poste Windows ministériel : brouillon Outlook, tâche planifiée de 7 h, police Marianne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4599432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6473952" y="4745736"/>
            <a:ext cx="365760" cy="365760"/>
          </a:xfrm>
          <a:prstGeom prst="ellipse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00091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4663440"/>
            <a:ext cx="42976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61616"/>
                </a:solidFill>
                <a:latin typeface="Arial"/>
              </a:rPr>
              <a:t>Le droit d'envoi vers la liste de diffusion SG_CEPS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09360" y="5385816"/>
            <a:ext cx="5120640" cy="658368"/>
          </a:xfrm>
          <a:prstGeom prst="roundRect">
            <a:avLst>
              <a:gd name="adj" fmla="val 10000"/>
            </a:avLst>
          </a:prstGeom>
          <a:solidFill>
            <a:srgbClr val="F6F6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73952" y="5532120"/>
            <a:ext cx="365760" cy="365760"/>
          </a:xfrm>
          <a:prstGeom prst="ellipse">
            <a:avLst/>
          </a:prstGeom>
          <a:solidFill>
            <a:srgbClr val="E3E3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000091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5449824"/>
            <a:ext cx="429768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161616"/>
                </a:solidFill>
                <a:latin typeface="Arial"/>
              </a:rPr>
              <a:t>La sauvegarde du code : GitLab interne ou partage réseau d'équipe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Veille JO automatisée — CEPS</dc:title>
  <dc:subject/>
  <dc:creator>Veille JO, spécialités pharmaceutiques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